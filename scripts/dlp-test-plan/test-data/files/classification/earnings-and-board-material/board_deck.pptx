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2026 Board Meeting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Confidential - Board of Directors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Q4 revenue $412.7M, +18.4% YoY - ahead of guidance</a:t>
            </a:r>
          </a:p>
          <a:p>
            <a:pPr lvl="1">
              <a:defRPr sz="1600"/>
            </a:pPr>
            <a:r>
              <a:t>  Non-GAAP operating margin 21.7%, +310bps</a:t>
            </a:r>
          </a:p>
          <a:p>
            <a:pPr lvl="1">
              <a:defRPr sz="1600"/>
            </a:pPr>
            <a:r>
              <a:t>  FY26 revenue $1.53B, FCF $284.6M</a:t>
            </a:r>
          </a:p>
          <a:p>
            <a:pPr lvl="1">
              <a:defRPr sz="1600"/>
            </a:pPr>
            <a:r>
              <a:t>  Q4 net revenue retention 117%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Matters for Board Approval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$250M share repurchase authorisation</a:t>
            </a:r>
          </a:p>
          <a:p>
            <a:pPr lvl="1">
              <a:defRPr sz="1600"/>
            </a:pPr>
            <a:r>
              <a:t>  Goodwill impairment of $47.2M (2024 acquisition)</a:t>
            </a:r>
          </a:p>
          <a:p>
            <a:pPr lvl="1">
              <a:defRPr sz="1600"/>
            </a:pPr>
            <a:r>
              <a:t>  FY27 executive compensation framework</a:t>
            </a:r>
          </a:p>
          <a:p>
            <a:pPr lvl="1">
              <a:defRPr sz="1600"/>
            </a:pPr>
            <a:r>
              <a:t>  Project Kingfisher - EMEA acquisition, non-binding LOI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Kingfisher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Target: EMEA payments processor, ~EUR 340M enterprise value</a:t>
            </a:r>
          </a:p>
          <a:p>
            <a:pPr lvl="1">
              <a:defRPr sz="1600"/>
            </a:pPr>
            <a:r>
              <a:t>  Indicative range EUR 310-355M, 4.1x forward revenue</a:t>
            </a:r>
          </a:p>
          <a:p>
            <a:pPr lvl="1">
              <a:defRPr sz="1600"/>
            </a:pPr>
            <a:r>
              <a:t>  Diligence complete; SPA drafting underway</a:t>
            </a:r>
          </a:p>
          <a:p>
            <a:pPr lvl="1">
              <a:defRPr sz="1600"/>
            </a:pPr>
            <a:r>
              <a:t>  Announcement targeted for the week of 22 March 2027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Register - Material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Ongoing regulatory review of interchange practices</a:t>
            </a:r>
          </a:p>
          <a:p>
            <a:pPr lvl="1">
              <a:defRPr sz="1600"/>
            </a:pPr>
            <a:r>
              <a:t>  Settlement discussions - Project Ombersley - reserve $18.5M</a:t>
            </a:r>
          </a:p>
          <a:p>
            <a:pPr lvl="1">
              <a:defRPr sz="1600"/>
            </a:pPr>
            <a:r>
              <a:t>  Key-person exposure in the platform organisation</a:t>
            </a:r>
          </a:p>
          <a:p>
            <a:pPr lvl="1">
              <a:defRPr sz="1600"/>
            </a:pPr>
            <a:r>
              <a:t>  Project Nettlebed workforce modelling: 6-9% reduction scenario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FY27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$1.78-1.81B, +16-18%</a:t>
            </a:r>
          </a:p>
          <a:p>
            <a:pPr lvl="1">
              <a:defRPr sz="1600"/>
            </a:pPr>
            <a:r>
              <a:t>  Operating margin 21-22%, expanding to 24% by FY29</a:t>
            </a:r>
          </a:p>
          <a:p>
            <a:pPr lvl="1">
              <a:defRPr sz="1600"/>
            </a:pPr>
            <a:r>
              <a:t>  Headcount plan 3,140 (from 2,905)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